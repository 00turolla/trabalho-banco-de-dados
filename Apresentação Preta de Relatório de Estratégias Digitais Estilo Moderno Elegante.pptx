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Open Sauce" charset="1" panose="00000500000000000000"/>
      <p:regular r:id="rId15"/>
    </p:embeddedFont>
    <p:embeddedFont>
      <p:font typeface="Open Sauce Light" charset="1" panose="00000400000000000000"/>
      <p:regular r:id="rId16"/>
    </p:embeddedFont>
    <p:embeddedFont>
      <p:font typeface="Helios Extended" charset="1" panose="02000505040000020004"/>
      <p:regular r:id="rId17"/>
    </p:embeddedFont>
    <p:embeddedFont>
      <p:font typeface="Space Mono" charset="1" panose="02000509040000020004"/>
      <p:regular r:id="rId18"/>
    </p:embeddedFont>
    <p:embeddedFont>
      <p:font typeface="Open Sans" charset="1" panose="020B06060305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6.gif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gif" Type="http://schemas.openxmlformats.org/officeDocument/2006/relationships/image"/><Relationship Id="rId5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248515" y="1358013"/>
            <a:ext cx="373387" cy="252545"/>
          </a:xfrm>
          <a:custGeom>
            <a:avLst/>
            <a:gdLst/>
            <a:ahLst/>
            <a:cxnLst/>
            <a:rect r="r" b="b" t="t" l="l"/>
            <a:pathLst>
              <a:path h="252545" w="373387">
                <a:moveTo>
                  <a:pt x="0" y="0"/>
                </a:moveTo>
                <a:lnTo>
                  <a:pt x="373387" y="0"/>
                </a:lnTo>
                <a:lnTo>
                  <a:pt x="373387" y="252545"/>
                </a:lnTo>
                <a:lnTo>
                  <a:pt x="0" y="252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40480" y="2204005"/>
            <a:ext cx="5407039" cy="5407039"/>
          </a:xfrm>
          <a:custGeom>
            <a:avLst/>
            <a:gdLst/>
            <a:ahLst/>
            <a:cxnLst/>
            <a:rect r="r" b="b" t="t" l="l"/>
            <a:pathLst>
              <a:path h="5407039" w="5407039">
                <a:moveTo>
                  <a:pt x="0" y="0"/>
                </a:moveTo>
                <a:lnTo>
                  <a:pt x="5407040" y="0"/>
                </a:lnTo>
                <a:lnTo>
                  <a:pt x="5407040" y="5407039"/>
                </a:lnTo>
                <a:lnTo>
                  <a:pt x="0" y="5407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1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72130" y="4426512"/>
            <a:ext cx="11770624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02"/>
              </a:lnSpc>
            </a:pPr>
            <a:r>
              <a:rPr lang="en-US" sz="8085">
                <a:solidFill>
                  <a:srgbClr val="E8ECEC"/>
                </a:solidFill>
                <a:latin typeface="Open Sauce"/>
                <a:ea typeface="Open Sauce"/>
                <a:cs typeface="Open Sauce"/>
                <a:sym typeface="Open Sauce"/>
              </a:rPr>
              <a:t>BANCO DE DADOS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80165" y="4907525"/>
            <a:ext cx="735455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43"/>
              </a:lnSpc>
            </a:pPr>
            <a:r>
              <a:rPr lang="en-US" sz="1786" spc="1429">
                <a:solidFill>
                  <a:srgbClr val="E8ECEC"/>
                </a:solidFill>
                <a:latin typeface="Open Sauce"/>
                <a:ea typeface="Open Sauce"/>
                <a:cs typeface="Open Sauce"/>
                <a:sym typeface="Open Sauce"/>
              </a:rPr>
              <a:t>OQUE É ?</a:t>
            </a:r>
          </a:p>
        </p:txBody>
      </p:sp>
      <p:sp>
        <p:nvSpPr>
          <p:cNvPr name="TextBox 6" id="6"/>
          <p:cNvSpPr txBox="true"/>
          <p:nvPr/>
        </p:nvSpPr>
        <p:spPr>
          <a:xfrm rot="-10800000">
            <a:off x="13034102" y="3521637"/>
            <a:ext cx="2116564" cy="303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945"/>
              </a:lnSpc>
            </a:pPr>
            <a:r>
              <a:rPr lang="en-US" sz="19954" spc="-399">
                <a:solidFill>
                  <a:srgbClr val="E8ECEC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(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37335" y="3516875"/>
            <a:ext cx="2116564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0"/>
              </a:lnSpc>
            </a:pPr>
            <a:r>
              <a:rPr lang="en-US" sz="20000" spc="-400">
                <a:solidFill>
                  <a:srgbClr val="E8ECEC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(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93755" y="1307147"/>
            <a:ext cx="2311646" cy="411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1"/>
              </a:lnSpc>
            </a:pPr>
            <a:r>
              <a:rPr lang="en-US" sz="2643">
                <a:solidFill>
                  <a:srgbClr val="E8ECEC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STILL.PUNK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0679" y="7509679"/>
            <a:ext cx="2777321" cy="2777321"/>
          </a:xfrm>
          <a:custGeom>
            <a:avLst/>
            <a:gdLst/>
            <a:ahLst/>
            <a:cxnLst/>
            <a:rect r="r" b="b" t="t" l="l"/>
            <a:pathLst>
              <a:path h="2777321" w="2777321">
                <a:moveTo>
                  <a:pt x="0" y="0"/>
                </a:moveTo>
                <a:lnTo>
                  <a:pt x="2777321" y="0"/>
                </a:lnTo>
                <a:lnTo>
                  <a:pt x="2777321" y="2777321"/>
                </a:lnTo>
                <a:lnTo>
                  <a:pt x="0" y="27773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8936" y="3031626"/>
            <a:ext cx="2019818" cy="2111874"/>
          </a:xfrm>
          <a:custGeom>
            <a:avLst/>
            <a:gdLst/>
            <a:ahLst/>
            <a:cxnLst/>
            <a:rect r="r" b="b" t="t" l="l"/>
            <a:pathLst>
              <a:path h="2111874" w="2019818">
                <a:moveTo>
                  <a:pt x="0" y="0"/>
                </a:moveTo>
                <a:lnTo>
                  <a:pt x="2019817" y="0"/>
                </a:lnTo>
                <a:lnTo>
                  <a:pt x="2019817" y="2111874"/>
                </a:lnTo>
                <a:lnTo>
                  <a:pt x="0" y="21118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248515" y="1358013"/>
            <a:ext cx="373387" cy="252545"/>
          </a:xfrm>
          <a:custGeom>
            <a:avLst/>
            <a:gdLst/>
            <a:ahLst/>
            <a:cxnLst/>
            <a:rect r="r" b="b" t="t" l="l"/>
            <a:pathLst>
              <a:path h="252545" w="373387">
                <a:moveTo>
                  <a:pt x="0" y="0"/>
                </a:moveTo>
                <a:lnTo>
                  <a:pt x="373387" y="0"/>
                </a:lnTo>
                <a:lnTo>
                  <a:pt x="373387" y="252545"/>
                </a:lnTo>
                <a:lnTo>
                  <a:pt x="0" y="2525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82004" y="3318770"/>
            <a:ext cx="4270101" cy="1509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1"/>
              </a:lnSpc>
            </a:pPr>
            <a:r>
              <a:rPr lang="en-US" sz="1715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UM BANCO DE DADOS NÃO RELACIONAL, TAMBÉM CONHECIDO COMO NOSQL GUARDA AS INFORMAÇÕES NUM BANCO DE DADOS SEM PRECISAR DE UMA TABELA.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80377" y="355150"/>
            <a:ext cx="7666706" cy="192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54"/>
              </a:lnSpc>
            </a:pPr>
            <a:r>
              <a:rPr lang="en-US" sz="629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BANCO DE DADOS NÃO RELACIONAIS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35479" y="8007752"/>
            <a:ext cx="4753704" cy="179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63"/>
              </a:lnSpc>
              <a:spcBef>
                <a:spcPct val="0"/>
              </a:spcBef>
            </a:pPr>
            <a:r>
              <a:rPr lang="en-US" sz="171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ELES USAM MODELOS LIVRES. ISSO AJUDA A LIDAR COM DADOS SOLTOS E DEIXA O SISTEMA MAIS RÁPIDO E FÁCIL DE CRESCER SENDO BEM FLEXÍVEL</a:t>
            </a:r>
          </a:p>
          <a:p>
            <a:pPr algn="r">
              <a:lnSpc>
                <a:spcPts val="2063"/>
              </a:lnSpc>
              <a:spcBef>
                <a:spcPct val="0"/>
              </a:spcBef>
            </a:pPr>
            <a:r>
              <a:rPr lang="en-US" sz="171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UTILIZADO PRA GRANDES VOLUME OU DADOS QUE MUDAM MUITO GUARDANDO TUDO EM UM JSON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93755" y="1307147"/>
            <a:ext cx="2311646" cy="411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1"/>
              </a:lnSpc>
            </a:pPr>
            <a:r>
              <a:rPr lang="en-US" sz="2643">
                <a:solidFill>
                  <a:srgbClr val="E8ECEC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STILL.PUNK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6587465" y="2777086"/>
            <a:ext cx="6073482" cy="70213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715734" y="874253"/>
            <a:ext cx="373387" cy="252545"/>
          </a:xfrm>
          <a:custGeom>
            <a:avLst/>
            <a:gdLst/>
            <a:ahLst/>
            <a:cxnLst/>
            <a:rect r="r" b="b" t="t" l="l"/>
            <a:pathLst>
              <a:path h="252545" w="373387">
                <a:moveTo>
                  <a:pt x="0" y="0"/>
                </a:moveTo>
                <a:lnTo>
                  <a:pt x="373387" y="0"/>
                </a:lnTo>
                <a:lnTo>
                  <a:pt x="373387" y="252545"/>
                </a:lnTo>
                <a:lnTo>
                  <a:pt x="0" y="252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027973" y="981075"/>
            <a:ext cx="5231327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343283" y="1779082"/>
            <a:ext cx="7076936" cy="310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84"/>
              </a:lnSpc>
            </a:pPr>
            <a:r>
              <a:rPr lang="en-US" sz="682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BANCO DE DADOS</a:t>
            </a:r>
          </a:p>
          <a:p>
            <a:pPr algn="ctr" marL="0" indent="0" lvl="0">
              <a:lnSpc>
                <a:spcPts val="8184"/>
              </a:lnSpc>
            </a:pPr>
            <a:r>
              <a:rPr lang="en-US" sz="682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RELACIONAL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34926" y="5622217"/>
            <a:ext cx="9233446" cy="242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9"/>
              </a:lnSpc>
            </a:pPr>
            <a:r>
              <a:rPr lang="en-US" sz="176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banco de dados tem a funçaõ de armazena, organiza informações em uma estrutura</a:t>
            </a:r>
          </a:p>
          <a:p>
            <a:pPr algn="ctr">
              <a:lnSpc>
                <a:spcPts val="2469"/>
              </a:lnSpc>
            </a:pPr>
            <a:r>
              <a:rPr lang="en-US" sz="176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tabelas de linhas e em colunas que se relacionan entre si.</a:t>
            </a:r>
          </a:p>
          <a:p>
            <a:pPr algn="ctr">
              <a:lnSpc>
                <a:spcPts val="2469"/>
              </a:lnSpc>
            </a:pPr>
            <a:r>
              <a:rPr lang="en-US" sz="176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São a base do gerenciamento moderno de dados e podem variar de pequenos sistemas </a:t>
            </a:r>
          </a:p>
          <a:p>
            <a:pPr algn="ctr">
              <a:lnSpc>
                <a:spcPts val="2469"/>
              </a:lnSpc>
            </a:pPr>
            <a:r>
              <a:rPr lang="en-US" sz="176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 desktop a grandes soluções em nuvem.</a:t>
            </a:r>
          </a:p>
          <a:p>
            <a:pPr algn="ctr">
              <a:lnSpc>
                <a:spcPts val="2469"/>
              </a:lnSpc>
            </a:pPr>
            <a:r>
              <a:rPr lang="en-US" sz="176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Eles garantem a integridade dos dados, a escalabilidade e a facilidade de acesso, </a:t>
            </a:r>
          </a:p>
          <a:p>
            <a:pPr algn="ctr">
              <a:lnSpc>
                <a:spcPts val="2469"/>
              </a:lnSpc>
            </a:pPr>
            <a:r>
              <a:rPr lang="en-US" sz="176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sendo essenciais para organizações de todos os tipos e tamanhos.</a:t>
            </a:r>
          </a:p>
          <a:p>
            <a:pPr algn="ctr">
              <a:lnSpc>
                <a:spcPts val="2469"/>
              </a:lnSpc>
            </a:pPr>
            <a:r>
              <a:rPr lang="en-US" sz="176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                                            </a:t>
            </a:r>
          </a:p>
          <a:p>
            <a:pPr algn="ctr">
              <a:lnSpc>
                <a:spcPts val="246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04307"/>
            <a:ext cx="2311646" cy="411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1"/>
              </a:lnSpc>
            </a:pPr>
            <a:r>
              <a:rPr lang="en-US" sz="2643">
                <a:solidFill>
                  <a:srgbClr val="E8ECEC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STILL.PUNK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853953" y="1971714"/>
            <a:ext cx="6302897" cy="72865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248515" y="1358013"/>
            <a:ext cx="373387" cy="252545"/>
          </a:xfrm>
          <a:custGeom>
            <a:avLst/>
            <a:gdLst/>
            <a:ahLst/>
            <a:cxnLst/>
            <a:rect r="r" b="b" t="t" l="l"/>
            <a:pathLst>
              <a:path h="252545" w="373387">
                <a:moveTo>
                  <a:pt x="0" y="0"/>
                </a:moveTo>
                <a:lnTo>
                  <a:pt x="373387" y="0"/>
                </a:lnTo>
                <a:lnTo>
                  <a:pt x="373387" y="252545"/>
                </a:lnTo>
                <a:lnTo>
                  <a:pt x="0" y="252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027973" y="981075"/>
            <a:ext cx="5231327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true" flipV="false" rot="1185039">
            <a:off x="899325" y="71295"/>
            <a:ext cx="4161442" cy="10766344"/>
          </a:xfrm>
          <a:custGeom>
            <a:avLst/>
            <a:gdLst/>
            <a:ahLst/>
            <a:cxnLst/>
            <a:rect r="r" b="b" t="t" l="l"/>
            <a:pathLst>
              <a:path h="10766344" w="4161442">
                <a:moveTo>
                  <a:pt x="4161442" y="0"/>
                </a:moveTo>
                <a:lnTo>
                  <a:pt x="0" y="0"/>
                </a:lnTo>
                <a:lnTo>
                  <a:pt x="0" y="10766344"/>
                </a:lnTo>
                <a:lnTo>
                  <a:pt x="4161442" y="10766344"/>
                </a:lnTo>
                <a:lnTo>
                  <a:pt x="4161442" y="0"/>
                </a:lnTo>
                <a:close/>
              </a:path>
            </a:pathLst>
          </a:custGeom>
          <a:blipFill>
            <a:blip r:embed="rId4">
              <a:alphaModFix amt="62000"/>
            </a:blip>
            <a:stretch>
              <a:fillRect l="-4171" t="0" r="-4171" b="-984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93824" y="375761"/>
            <a:ext cx="10449813" cy="102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84"/>
              </a:lnSpc>
            </a:pPr>
            <a:r>
              <a:rPr lang="en-US" sz="682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(ORIENTADO A GRAFOS)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70191" y="1553362"/>
            <a:ext cx="10897079" cy="117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foca em mapear conexõs/relações complexas entre entidades.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31047" y="2817336"/>
            <a:ext cx="267191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exemplo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3835564"/>
            <a:ext cx="18288000" cy="958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0"/>
              </a:lnSpc>
            </a:pPr>
            <a:r>
              <a:rPr lang="en-US" sz="2764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redes sociais, refletindo exatamente a definição: conjunto de objetos interconectados.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31944" y="4591716"/>
            <a:ext cx="256029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vertices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55336" y="4591716"/>
            <a:ext cx="261193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arestas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5703" y="5602550"/>
            <a:ext cx="6232773" cy="1393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4"/>
              </a:lnSpc>
            </a:pPr>
            <a:r>
              <a:rPr lang="en-US" sz="401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representa entidades</a:t>
            </a:r>
          </a:p>
          <a:p>
            <a:pPr algn="ctr">
              <a:lnSpc>
                <a:spcPts val="5614"/>
              </a:lnSpc>
            </a:pPr>
            <a:r>
              <a:rPr lang="en-US" sz="401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individuais de rede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62356" y="5602636"/>
            <a:ext cx="8794477" cy="139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8"/>
              </a:lnSpc>
            </a:pPr>
            <a:r>
              <a:rPr lang="en-US" sz="4013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representa as conexões e</a:t>
            </a:r>
          </a:p>
          <a:p>
            <a:pPr algn="ctr">
              <a:lnSpc>
                <a:spcPts val="5618"/>
              </a:lnSpc>
            </a:pPr>
            <a:r>
              <a:rPr lang="en-US" sz="4013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interação entre os vetores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25008" y="7390027"/>
            <a:ext cx="13237983" cy="239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8"/>
              </a:lnSpc>
            </a:pPr>
            <a:r>
              <a:rPr lang="en-US" sz="4584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oferece melhor performace e flexibilidade, pois e mais adequados para modelar cenarios do mundo real.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17356833" y="761179"/>
            <a:ext cx="0" cy="826640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777173" y="884793"/>
            <a:ext cx="0" cy="814278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693755" y="1307147"/>
            <a:ext cx="2311646" cy="411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1"/>
              </a:lnSpc>
            </a:pPr>
            <a:r>
              <a:rPr lang="en-US" sz="2643">
                <a:solidFill>
                  <a:srgbClr val="E8ECEC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STILL.PUNK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81629" y="6986792"/>
            <a:ext cx="2642461" cy="2647977"/>
          </a:xfrm>
          <a:custGeom>
            <a:avLst/>
            <a:gdLst/>
            <a:ahLst/>
            <a:cxnLst/>
            <a:rect r="r" b="b" t="t" l="l"/>
            <a:pathLst>
              <a:path h="2647977" w="2642461">
                <a:moveTo>
                  <a:pt x="0" y="0"/>
                </a:moveTo>
                <a:lnTo>
                  <a:pt x="2642461" y="0"/>
                </a:lnTo>
                <a:lnTo>
                  <a:pt x="2642461" y="2647977"/>
                </a:lnTo>
                <a:lnTo>
                  <a:pt x="0" y="2647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55076" y="7169995"/>
            <a:ext cx="2370393" cy="2443704"/>
          </a:xfrm>
          <a:custGeom>
            <a:avLst/>
            <a:gdLst/>
            <a:ahLst/>
            <a:cxnLst/>
            <a:rect r="r" b="b" t="t" l="l"/>
            <a:pathLst>
              <a:path h="2443704" w="2370393">
                <a:moveTo>
                  <a:pt x="0" y="0"/>
                </a:moveTo>
                <a:lnTo>
                  <a:pt x="2370393" y="0"/>
                </a:lnTo>
                <a:lnTo>
                  <a:pt x="2370393" y="2443704"/>
                </a:lnTo>
                <a:lnTo>
                  <a:pt x="0" y="2443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027973" y="981075"/>
            <a:ext cx="5231327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957980" y="3884743"/>
            <a:ext cx="2024360" cy="40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41"/>
              </a:lnSpc>
            </a:pPr>
            <a:r>
              <a:rPr lang="en-US" sz="2784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 QUE É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8800" y="806589"/>
            <a:ext cx="2116564" cy="387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43"/>
              </a:lnSpc>
            </a:pPr>
            <a:r>
              <a:rPr lang="en-US" sz="25452" spc="-509">
                <a:solidFill>
                  <a:srgbClr val="E8ECEC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(</a:t>
            </a:r>
          </a:p>
        </p:txBody>
      </p:sp>
      <p:sp>
        <p:nvSpPr>
          <p:cNvPr name="TextBox 7" id="7"/>
          <p:cNvSpPr txBox="true"/>
          <p:nvPr/>
        </p:nvSpPr>
        <p:spPr>
          <a:xfrm rot="-10800000">
            <a:off x="15842077" y="1028700"/>
            <a:ext cx="2116564" cy="387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43"/>
              </a:lnSpc>
            </a:pPr>
            <a:r>
              <a:rPr lang="en-US" sz="25452" spc="-509">
                <a:solidFill>
                  <a:srgbClr val="E8ECEC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(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9915" y="2001269"/>
            <a:ext cx="15380444" cy="194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392"/>
              </a:lnSpc>
            </a:pPr>
            <a:r>
              <a:rPr lang="en-US" sz="12827">
                <a:solidFill>
                  <a:srgbClr val="E8ECEC"/>
                </a:solidFill>
                <a:latin typeface="Open Sauce"/>
                <a:ea typeface="Open Sauce"/>
                <a:cs typeface="Open Sauce"/>
                <a:sym typeface="Open Sauce"/>
              </a:rPr>
              <a:t>BANCO DE DADOS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02631" y="2744926"/>
            <a:ext cx="3335057" cy="444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55"/>
              </a:lnSpc>
            </a:pPr>
            <a:r>
              <a:rPr lang="en-US" sz="2962" spc="2370">
                <a:solidFill>
                  <a:srgbClr val="E8ECEC"/>
                </a:solidFill>
                <a:latin typeface="Open Sauce"/>
                <a:ea typeface="Open Sauce"/>
                <a:cs typeface="Open Sauce"/>
                <a:sym typeface="Open Sauce"/>
              </a:rPr>
              <a:t>NUVEM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3782" y="3951856"/>
            <a:ext cx="2024360" cy="40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41"/>
              </a:lnSpc>
            </a:pPr>
            <a:r>
              <a:rPr lang="en-US" sz="2784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VANTAGENS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34023" y="3884743"/>
            <a:ext cx="2651623" cy="40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41"/>
              </a:lnSpc>
            </a:pPr>
            <a:r>
              <a:rPr lang="en-US" sz="2784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DESVANTAGENS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43604" y="4750542"/>
            <a:ext cx="5480222" cy="223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8"/>
              </a:lnSpc>
            </a:pPr>
            <a:r>
              <a:rPr lang="en-US" sz="249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É UM BANC</a:t>
            </a:r>
            <a:r>
              <a:rPr lang="en-US" sz="249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 DE DADOS QUE FICA ARMAZENADO EM SERVIDORES DE EMPRESAS DE NUVEM, COMO AWS, AZURE E GOOGLE CLOUD, EM VEZ DE FICAR EM UM SERVIDOR FÍSICO DA PRÓPRIA EMPRESA.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8800" y="4881767"/>
            <a:ext cx="5792830" cy="421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0636" indent="-230318" lvl="1">
              <a:lnSpc>
                <a:spcPts val="2560"/>
              </a:lnSpc>
              <a:buFont typeface="Arial"/>
              <a:buChar char="•"/>
            </a:pPr>
            <a:r>
              <a:rPr lang="en-US" sz="2133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ESCALABILIDADE: PODE AUMENTAR OU DIMINUIR OS RECURSOS CONFORME A DEM</a:t>
            </a:r>
            <a:r>
              <a:rPr lang="en-US" sz="2133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ANDA.</a:t>
            </a:r>
          </a:p>
          <a:p>
            <a:pPr algn="l" marL="460636" indent="-230318" lvl="1">
              <a:lnSpc>
                <a:spcPts val="2560"/>
              </a:lnSpc>
              <a:buFont typeface="Arial"/>
              <a:buChar char="•"/>
            </a:pPr>
            <a:r>
              <a:rPr lang="en-US" sz="2133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ACESSO REMOTO: OS DADOS PODEM SER ACESSADOS PELA INTERNET.</a:t>
            </a:r>
          </a:p>
          <a:p>
            <a:pPr algn="l" marL="460636" indent="-230318" lvl="1">
              <a:lnSpc>
                <a:spcPts val="2560"/>
              </a:lnSpc>
              <a:buFont typeface="Arial"/>
              <a:buChar char="•"/>
            </a:pPr>
            <a:r>
              <a:rPr lang="en-US" sz="2133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MENOR INFRAESTRUTURA: NÃO PRECISA MANTER TANTOS SERVIDORES FÍSICOS.</a:t>
            </a:r>
          </a:p>
          <a:p>
            <a:pPr algn="l" marL="460636" indent="-230318" lvl="1">
              <a:lnSpc>
                <a:spcPts val="2560"/>
              </a:lnSpc>
              <a:buFont typeface="Arial"/>
              <a:buChar char="•"/>
            </a:pPr>
            <a:r>
              <a:rPr lang="en-US" sz="2133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B</a:t>
            </a:r>
            <a:r>
              <a:rPr lang="en-US" sz="2133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ACKUP: PODE CONTAR COM BACKUPS E RECURSOS DE RECUPERAÇÃO.</a:t>
            </a:r>
          </a:p>
          <a:p>
            <a:pPr algn="l" marL="460636" indent="-230318" lvl="1">
              <a:lnSpc>
                <a:spcPts val="2560"/>
              </a:lnSpc>
              <a:buFont typeface="Arial"/>
              <a:buChar char="•"/>
            </a:pPr>
            <a:r>
              <a:rPr lang="en-US" sz="2133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FLEXIBILIDADE: A EMPRESA PODE CONTRATAR OS RECURSOS DE QUE PRECISA.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83194" y="4750542"/>
            <a:ext cx="4876106" cy="3833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458139" indent="-229070" lvl="1">
              <a:lnSpc>
                <a:spcPts val="2546"/>
              </a:lnSpc>
              <a:buFont typeface="Arial"/>
              <a:buChar char="•"/>
            </a:pPr>
            <a:r>
              <a:rPr lang="en-US" sz="212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DEPEN</a:t>
            </a:r>
            <a:r>
              <a:rPr lang="en-US" sz="212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DÊNCIA DA INTERNET: PROBLEMAS DE CONEXÃO PODEM AFETAR O ACESSO.</a:t>
            </a:r>
          </a:p>
          <a:p>
            <a:pPr algn="r" marL="458139" indent="-229070" lvl="1">
              <a:lnSpc>
                <a:spcPts val="2546"/>
              </a:lnSpc>
              <a:buFont typeface="Arial"/>
              <a:buChar char="•"/>
            </a:pPr>
            <a:r>
              <a:rPr lang="en-US" sz="212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CUSTOS: QUANTO MAIOR O</a:t>
            </a:r>
            <a:r>
              <a:rPr lang="en-US" sz="212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en-US" sz="212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USO, MAIOR PODE SER O CUSTO.</a:t>
            </a:r>
          </a:p>
          <a:p>
            <a:pPr algn="r" marL="458139" indent="-229070" lvl="1">
              <a:lnSpc>
                <a:spcPts val="2546"/>
              </a:lnSpc>
              <a:buFont typeface="Arial"/>
              <a:buChar char="•"/>
            </a:pPr>
            <a:r>
              <a:rPr lang="en-US" sz="212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SEGURANÇA: CONFIGURAÇÕES INCORRETAS PODEM EXPOR OS DADOS.</a:t>
            </a:r>
          </a:p>
          <a:p>
            <a:pPr algn="r" marL="458139" indent="-229070" lvl="1">
              <a:lnSpc>
                <a:spcPts val="2546"/>
              </a:lnSpc>
              <a:buFont typeface="Arial"/>
              <a:buChar char="•"/>
            </a:pPr>
            <a:r>
              <a:rPr lang="en-US" sz="212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DEPENDÊNCIA DO PROVEDOR: PROBLEMAS NO SERVIÇO PODEM AFETAR A EMPRESA.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248515" y="1358013"/>
            <a:ext cx="373387" cy="252545"/>
          </a:xfrm>
          <a:custGeom>
            <a:avLst/>
            <a:gdLst/>
            <a:ahLst/>
            <a:cxnLst/>
            <a:rect r="r" b="b" t="t" l="l"/>
            <a:pathLst>
              <a:path h="252545" w="373387">
                <a:moveTo>
                  <a:pt x="0" y="0"/>
                </a:moveTo>
                <a:lnTo>
                  <a:pt x="373387" y="0"/>
                </a:lnTo>
                <a:lnTo>
                  <a:pt x="373387" y="252545"/>
                </a:lnTo>
                <a:lnTo>
                  <a:pt x="0" y="252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9537891" y="3082885"/>
            <a:ext cx="0" cy="649224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5590979" y="-28502"/>
            <a:ext cx="2153212" cy="2489263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43999"/>
          </a:blip>
          <a:stretch>
            <a:fillRect/>
          </a:stretch>
        </p:blipFill>
        <p:spPr>
          <a:xfrm rot="720865">
            <a:off x="6422482" y="5529188"/>
            <a:ext cx="6157841" cy="3948902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921903" y="2384575"/>
            <a:ext cx="11636631" cy="347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5"/>
              </a:lnSpc>
            </a:pPr>
            <a:r>
              <a:rPr lang="en-US" sz="1784" u="sng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POSSUI ROTINAS DE BACKUP E REGRAS PARA EVITAR DADOS DUPLICADOS OU INCONSISTENTES.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03562" y="1110827"/>
            <a:ext cx="8778185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73"/>
              </a:lnSpc>
            </a:pPr>
            <a:r>
              <a:rPr lang="en-US" sz="406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INTEGRIDADE &amp; RECUPERAÇÃO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93755" y="1307147"/>
            <a:ext cx="2228148" cy="411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1"/>
              </a:lnSpc>
            </a:pPr>
            <a:r>
              <a:rPr lang="en-US" sz="2643">
                <a:solidFill>
                  <a:srgbClr val="E8ECEC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STILL.PUNK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207" y="3417316"/>
            <a:ext cx="8178709" cy="60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3"/>
              </a:lnSpc>
            </a:pPr>
            <a:r>
              <a:rPr lang="en-US" sz="2645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 integridade em um banco de dados tem como objetivo garantir que as informações armazenadas sejam corretas, consistentes e confiáveis. Para isso, existem regras como chave primária, que identifica cada registro de forma única; chave estrangeira, que relaciona diferentes tabelas; NOT NULL, que impede campos obrigatórios de ficarem vazios; UNIQUE, que evita valores duplicados; e CHECK, que permite definir condições que os dados precisam seguir.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59357" y="3426841"/>
            <a:ext cx="7399943" cy="5010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4"/>
              </a:lnSpc>
            </a:pPr>
            <a:r>
              <a:rPr lang="en-US" sz="2603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Já a recuperação está relacionada à capacidade de restaurar os dados após falhas, erros ou perdas. Para isso, são utilizados principalmente backups, que são cópias dos dados armazenados, e logs de transações, que registram alterações realizadas no banco. Dessa forma, caso aconteça algum problema, é possível recuperar as informações e reduzir a perda de dados.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11185" y="7546720"/>
            <a:ext cx="2170162" cy="2170162"/>
          </a:xfrm>
          <a:custGeom>
            <a:avLst/>
            <a:gdLst/>
            <a:ahLst/>
            <a:cxnLst/>
            <a:rect r="r" b="b" t="t" l="l"/>
            <a:pathLst>
              <a:path h="2170162" w="2170162">
                <a:moveTo>
                  <a:pt x="0" y="0"/>
                </a:moveTo>
                <a:lnTo>
                  <a:pt x="2170162" y="0"/>
                </a:lnTo>
                <a:lnTo>
                  <a:pt x="2170162" y="2170162"/>
                </a:lnTo>
                <a:lnTo>
                  <a:pt x="0" y="2170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1912" y="4757543"/>
            <a:ext cx="1336493" cy="1560652"/>
          </a:xfrm>
          <a:custGeom>
            <a:avLst/>
            <a:gdLst/>
            <a:ahLst/>
            <a:cxnLst/>
            <a:rect r="r" b="b" t="t" l="l"/>
            <a:pathLst>
              <a:path h="1560652" w="1336493">
                <a:moveTo>
                  <a:pt x="0" y="0"/>
                </a:moveTo>
                <a:lnTo>
                  <a:pt x="1336493" y="0"/>
                </a:lnTo>
                <a:lnTo>
                  <a:pt x="1336493" y="1560652"/>
                </a:lnTo>
                <a:lnTo>
                  <a:pt x="0" y="1560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027973" y="981075"/>
            <a:ext cx="5231327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999974" y="292100"/>
            <a:ext cx="12733932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44"/>
              </a:lnSpc>
            </a:pPr>
            <a:r>
              <a:rPr lang="en-US" sz="612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APLICAÇAÇÕES PRATICAS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44107" y="4869291"/>
            <a:ext cx="3908889" cy="133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344"/>
              </a:lnSpc>
            </a:pPr>
            <a:r>
              <a:rPr lang="en-US" sz="4453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COMÉRCIO ELETRÔNICO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78602" y="5360040"/>
            <a:ext cx="3632322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GUARDA INFORMAÇÕES COMO PREÇO DE MERCADORIAS, CADASTRO DE CLIENTES, ESTOQUE , PEDIDOS DE COMPRAS E TRANSAÇÕES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34748" y="7905750"/>
            <a:ext cx="3908889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344"/>
              </a:lnSpc>
            </a:pPr>
            <a:r>
              <a:rPr lang="en-US" sz="4453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REDES SOCIAIS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07121" y="8591550"/>
            <a:ext cx="3520852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0"/>
              </a:lnSpc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JÁ NAS REDES SOCIAIS SÃO ARMAZENADOS PERFIS DE USUARIOS, SEUS POSTS, CURTIDAS, ETC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3234" y="2348884"/>
            <a:ext cx="7722247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0"/>
              </a:lnSpc>
            </a:pPr>
            <a:r>
              <a:rPr lang="en-US" sz="20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NO DIA A DIA, MESMO DE FORMA INPERCEPTIVEL NOS RELACIONAMOS CONSTANTEMENTE COM BANCO DE DADOS</a:t>
            </a:r>
          </a:p>
          <a:p>
            <a:pPr algn="l">
              <a:lnSpc>
                <a:spcPts val="2510"/>
              </a:lnSpc>
            </a:pPr>
          </a:p>
          <a:p>
            <a:pPr algn="l">
              <a:lnSpc>
                <a:spcPts val="2510"/>
              </a:lnSpc>
            </a:pPr>
            <a:r>
              <a:rPr lang="en-US" sz="20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DESDE QUANDO FAZEMOS TRANSAÇÕES BANCARIAS</a:t>
            </a:r>
          </a:p>
          <a:p>
            <a:pPr algn="l">
              <a:lnSpc>
                <a:spcPts val="2510"/>
              </a:lnSpc>
              <a:spcBef>
                <a:spcPct val="0"/>
              </a:spcBef>
            </a:pPr>
            <a:r>
              <a:rPr lang="en-US" sz="20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OU QUANDO ACESSAMOS UMA REDE SOCIAL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85950" y="7521784"/>
            <a:ext cx="1419348" cy="1220639"/>
          </a:xfrm>
          <a:custGeom>
            <a:avLst/>
            <a:gdLst/>
            <a:ahLst/>
            <a:cxnLst/>
            <a:rect r="r" b="b" t="t" l="l"/>
            <a:pathLst>
              <a:path h="1220639" w="1419348">
                <a:moveTo>
                  <a:pt x="0" y="0"/>
                </a:moveTo>
                <a:lnTo>
                  <a:pt x="1419348" y="0"/>
                </a:lnTo>
                <a:lnTo>
                  <a:pt x="1419348" y="1220639"/>
                </a:lnTo>
                <a:lnTo>
                  <a:pt x="0" y="12206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154209" y="7358265"/>
            <a:ext cx="2846222" cy="144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90"/>
              </a:lnSpc>
            </a:pPr>
            <a:r>
              <a:rPr lang="en-US" sz="4207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Sistemas de Saúde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54209" y="8987683"/>
            <a:ext cx="3371587" cy="93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0351" indent="-150176" lvl="1">
              <a:lnSpc>
                <a:spcPts val="1947"/>
              </a:lnSpc>
              <a:buFont typeface="Arial"/>
              <a:buChar char="•"/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Cadastro de pacientes</a:t>
            </a:r>
          </a:p>
          <a:p>
            <a:pPr algn="l" marL="300351" indent="-150176" lvl="1">
              <a:lnSpc>
                <a:spcPts val="1947"/>
              </a:lnSpc>
              <a:buFont typeface="Arial"/>
              <a:buChar char="•"/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Consultas e agendamentos</a:t>
            </a:r>
          </a:p>
          <a:p>
            <a:pPr algn="l" marL="300351" indent="-150176" lvl="1">
              <a:lnSpc>
                <a:spcPts val="1947"/>
              </a:lnSpc>
              <a:buFont typeface="Arial"/>
              <a:buChar char="•"/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Exames e históricos</a:t>
            </a:r>
          </a:p>
          <a:p>
            <a:pPr algn="ctr">
              <a:lnSpc>
                <a:spcPts val="1947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939085" y="5230774"/>
            <a:ext cx="1914361" cy="1828215"/>
          </a:xfrm>
          <a:custGeom>
            <a:avLst/>
            <a:gdLst/>
            <a:ahLst/>
            <a:cxnLst/>
            <a:rect r="r" b="b" t="t" l="l"/>
            <a:pathLst>
              <a:path h="1828215" w="1914361">
                <a:moveTo>
                  <a:pt x="0" y="0"/>
                </a:moveTo>
                <a:lnTo>
                  <a:pt x="1914361" y="0"/>
                </a:lnTo>
                <a:lnTo>
                  <a:pt x="1914361" y="1828215"/>
                </a:lnTo>
                <a:lnTo>
                  <a:pt x="0" y="18282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708300" y="6581341"/>
            <a:ext cx="4000809" cy="936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00100" indent="-150050" lvl="1">
              <a:lnSpc>
                <a:spcPts val="1945"/>
              </a:lnSpc>
              <a:buFont typeface="Arial"/>
              <a:buChar char="•"/>
            </a:pPr>
            <a:r>
              <a:rPr lang="en-US" sz="138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CONTAS E SALDOS</a:t>
            </a:r>
          </a:p>
          <a:p>
            <a:pPr algn="just" marL="300100" indent="-150050" lvl="1">
              <a:lnSpc>
                <a:spcPts val="1945"/>
              </a:lnSpc>
              <a:buFont typeface="Arial"/>
              <a:buChar char="•"/>
            </a:pPr>
            <a:r>
              <a:rPr lang="en-US" sz="138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PIX E TRANSAÇÕES</a:t>
            </a:r>
          </a:p>
          <a:p>
            <a:pPr algn="just" marL="300100" indent="-150050" lvl="1">
              <a:lnSpc>
                <a:spcPts val="1945"/>
              </a:lnSpc>
              <a:buFont typeface="Arial"/>
              <a:buChar char="•"/>
            </a:pPr>
            <a:r>
              <a:rPr lang="en-US" sz="138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HISTÓRICO DE MOVIMENTAÇÕES</a:t>
            </a:r>
          </a:p>
          <a:p>
            <a:pPr algn="just">
              <a:lnSpc>
                <a:spcPts val="1945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725025" y="5064995"/>
            <a:ext cx="4872614" cy="155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29"/>
              </a:lnSpc>
            </a:pPr>
            <a:r>
              <a:rPr lang="en-US" sz="444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SISTEMAS FINANCEIROS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5400000">
            <a:off x="1248515" y="1358013"/>
            <a:ext cx="373387" cy="252545"/>
          </a:xfrm>
          <a:custGeom>
            <a:avLst/>
            <a:gdLst/>
            <a:ahLst/>
            <a:cxnLst/>
            <a:rect r="r" b="b" t="t" l="l"/>
            <a:pathLst>
              <a:path h="252545" w="373387">
                <a:moveTo>
                  <a:pt x="0" y="0"/>
                </a:moveTo>
                <a:lnTo>
                  <a:pt x="373387" y="0"/>
                </a:lnTo>
                <a:lnTo>
                  <a:pt x="373387" y="252545"/>
                </a:lnTo>
                <a:lnTo>
                  <a:pt x="0" y="2525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93755" y="1307147"/>
            <a:ext cx="2311646" cy="411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1"/>
              </a:lnSpc>
            </a:pPr>
            <a:r>
              <a:rPr lang="en-US" sz="2643">
                <a:solidFill>
                  <a:srgbClr val="E8ECEC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STILL.PUNK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16399" y="1630381"/>
            <a:ext cx="7514431" cy="7026238"/>
          </a:xfrm>
          <a:custGeom>
            <a:avLst/>
            <a:gdLst/>
            <a:ahLst/>
            <a:cxnLst/>
            <a:rect r="r" b="b" t="t" l="l"/>
            <a:pathLst>
              <a:path h="7026238" w="7514431">
                <a:moveTo>
                  <a:pt x="0" y="0"/>
                </a:moveTo>
                <a:lnTo>
                  <a:pt x="7514430" y="0"/>
                </a:lnTo>
                <a:lnTo>
                  <a:pt x="7514430" y="7026238"/>
                </a:lnTo>
                <a:lnTo>
                  <a:pt x="0" y="7026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-543" t="0" r="-10108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248515" y="1358013"/>
            <a:ext cx="373387" cy="252545"/>
          </a:xfrm>
          <a:custGeom>
            <a:avLst/>
            <a:gdLst/>
            <a:ahLst/>
            <a:cxnLst/>
            <a:rect r="r" b="b" t="t" l="l"/>
            <a:pathLst>
              <a:path h="252545" w="373387">
                <a:moveTo>
                  <a:pt x="0" y="0"/>
                </a:moveTo>
                <a:lnTo>
                  <a:pt x="373387" y="0"/>
                </a:lnTo>
                <a:lnTo>
                  <a:pt x="373387" y="252545"/>
                </a:lnTo>
                <a:lnTo>
                  <a:pt x="0" y="2525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29431" y="180975"/>
            <a:ext cx="1222913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33"/>
              </a:lnSpc>
            </a:pPr>
            <a:r>
              <a:rPr lang="en-US" sz="5611">
                <a:solidFill>
                  <a:srgbClr val="E8ECEC"/>
                </a:solidFill>
                <a:latin typeface="Space Mono"/>
                <a:ea typeface="Space Mono"/>
                <a:cs typeface="Space Mono"/>
                <a:sym typeface="Space Mono"/>
              </a:rPr>
              <a:t>SEGURANÇA DE ACESSO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7997" y="2274480"/>
            <a:ext cx="25457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1628" indent="-225814" lvl="1">
              <a:lnSpc>
                <a:spcPts val="2510"/>
              </a:lnSpc>
              <a:spcBef>
                <a:spcPct val="0"/>
              </a:spcBef>
              <a:buFont typeface="Arial"/>
              <a:buChar char="•"/>
            </a:pPr>
            <a:r>
              <a:rPr lang="en-US" sz="2091">
                <a:solidFill>
                  <a:srgbClr val="E8ECEC"/>
                </a:solidFill>
                <a:latin typeface="Space Mono"/>
                <a:ea typeface="Space Mono"/>
                <a:cs typeface="Space Mono"/>
                <a:sym typeface="Space Mono"/>
              </a:rPr>
              <a:t>AUTENTICAÇÃO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9403" y="3917851"/>
            <a:ext cx="270710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1628" indent="-225814" lvl="1">
              <a:lnSpc>
                <a:spcPts val="2510"/>
              </a:lnSpc>
              <a:spcBef>
                <a:spcPct val="0"/>
              </a:spcBef>
              <a:buFont typeface="Arial"/>
              <a:buChar char="•"/>
            </a:pPr>
            <a:r>
              <a:rPr lang="en-US" sz="2091">
                <a:solidFill>
                  <a:srgbClr val="E8ECEC"/>
                </a:solidFill>
                <a:latin typeface="Space Mono"/>
                <a:ea typeface="Space Mono"/>
                <a:cs typeface="Space Mono"/>
                <a:sym typeface="Space Mono"/>
              </a:rPr>
              <a:t>AUTORIZAÇÃO E PERMISSÕES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97608" y="1028700"/>
            <a:ext cx="256520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1628" indent="-225814" lvl="1">
              <a:lnSpc>
                <a:spcPts val="2510"/>
              </a:lnSpc>
              <a:spcBef>
                <a:spcPct val="0"/>
              </a:spcBef>
              <a:buFont typeface="Arial"/>
              <a:buChar char="•"/>
            </a:pPr>
            <a:r>
              <a:rPr lang="en-US" sz="2091">
                <a:solidFill>
                  <a:srgbClr val="E8ECEC"/>
                </a:solidFill>
                <a:latin typeface="Space Mono"/>
                <a:ea typeface="Space Mono"/>
                <a:cs typeface="Space Mono"/>
                <a:sym typeface="Space Mono"/>
              </a:rPr>
              <a:t>CRIPTOGRAFIA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726279" y="3917851"/>
            <a:ext cx="191482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1628" indent="-225814" lvl="1">
              <a:lnSpc>
                <a:spcPts val="2510"/>
              </a:lnSpc>
              <a:spcBef>
                <a:spcPct val="0"/>
              </a:spcBef>
              <a:buFont typeface="Arial"/>
              <a:buChar char="•"/>
            </a:pPr>
            <a:r>
              <a:rPr lang="en-US" sz="2091">
                <a:solidFill>
                  <a:srgbClr val="E8ECEC"/>
                </a:solidFill>
                <a:latin typeface="Space Mono"/>
                <a:ea typeface="Space Mono"/>
                <a:cs typeface="Space Mono"/>
                <a:sym typeface="Space Mono"/>
              </a:rPr>
              <a:t>AUDITORIA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7997" y="2725434"/>
            <a:ext cx="2868513" cy="32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E8ECEC"/>
                </a:solidFill>
                <a:latin typeface="Open Sans"/>
                <a:ea typeface="Open Sans"/>
                <a:cs typeface="Open Sans"/>
                <a:sym typeface="Open Sans"/>
              </a:rPr>
              <a:t>Verifica quem é o usúario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7130" y="4598420"/>
            <a:ext cx="3371654" cy="65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E8ECEC"/>
                </a:solidFill>
                <a:latin typeface="Open Sans"/>
                <a:ea typeface="Open Sans"/>
                <a:cs typeface="Open Sans"/>
                <a:sym typeface="Open Sans"/>
              </a:rPr>
              <a:t>Define o que cada usúario pode fazer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94296" y="1476375"/>
            <a:ext cx="3491413" cy="98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E8ECEC"/>
                </a:solidFill>
                <a:latin typeface="Open Sans"/>
                <a:ea typeface="Open Sans"/>
                <a:cs typeface="Open Sans"/>
                <a:sym typeface="Open Sans"/>
              </a:rPr>
              <a:t>Utilizada para proteger os dados contra acessos indevidos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97608" y="4289176"/>
            <a:ext cx="2533811" cy="65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E8ECEC"/>
                </a:solidFill>
                <a:latin typeface="Open Sans"/>
                <a:ea typeface="Open Sans"/>
                <a:cs typeface="Open Sans"/>
                <a:sym typeface="Open Sans"/>
              </a:rPr>
              <a:t>Registra acessos e alterações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8536" y="5278557"/>
            <a:ext cx="979587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E8ECEC"/>
                </a:solidFill>
                <a:latin typeface="Open Sans"/>
                <a:ea typeface="Open Sans"/>
                <a:cs typeface="Open Sans"/>
                <a:sym typeface="Open Sans"/>
              </a:rPr>
              <a:t>ex: escola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800531"/>
            <a:ext cx="4317085" cy="1712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1939">
                <a:solidFill>
                  <a:srgbClr val="E8ECEC"/>
                </a:solidFill>
                <a:latin typeface="Open Sans"/>
                <a:ea typeface="Open Sans"/>
                <a:cs typeface="Open Sans"/>
                <a:sym typeface="Open Sans"/>
              </a:rPr>
              <a:t>é uma regra de </a:t>
            </a:r>
            <a:r>
              <a:rPr lang="en-US" sz="1939">
                <a:solidFill>
                  <a:srgbClr val="E8ECEC"/>
                </a:solidFill>
                <a:latin typeface="Open Sans"/>
                <a:ea typeface="Open Sans"/>
                <a:cs typeface="Open Sans"/>
                <a:sym typeface="Open Sans"/>
              </a:rPr>
              <a:t>segurança que dá a pessoas, programas ou computadores apenas o acesso básico necessário para fazer o seu trabalho, nada mais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7130" y="7353223"/>
            <a:ext cx="51664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1628" indent="-225814" lvl="1">
              <a:lnSpc>
                <a:spcPts val="2510"/>
              </a:lnSpc>
              <a:spcBef>
                <a:spcPct val="0"/>
              </a:spcBef>
              <a:buFont typeface="Arial"/>
              <a:buChar char="•"/>
            </a:pPr>
            <a:r>
              <a:rPr lang="en-US" sz="2091" strike="noStrike" u="none">
                <a:solidFill>
                  <a:srgbClr val="E8ECEC"/>
                </a:solidFill>
                <a:latin typeface="Space Mono"/>
                <a:ea typeface="Space Mono"/>
                <a:cs typeface="Space Mono"/>
                <a:sym typeface="Space Mono"/>
              </a:rPr>
              <a:t>PRINCÍPIO DO MENOR PRIVILÉGIO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7997" y="3081566"/>
            <a:ext cx="1950988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E8ECEC"/>
                </a:solidFill>
                <a:latin typeface="Open Sans"/>
                <a:ea typeface="Open Sans"/>
                <a:cs typeface="Open Sans"/>
                <a:sym typeface="Open Sans"/>
              </a:rPr>
              <a:t>ex: usúario e senha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93755" y="1307147"/>
            <a:ext cx="2311646" cy="411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1"/>
              </a:lnSpc>
            </a:pPr>
            <a:r>
              <a:rPr lang="en-US" sz="2643">
                <a:solidFill>
                  <a:srgbClr val="E8ECEC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STILL.PUNK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62547" y="9047664"/>
            <a:ext cx="2763265" cy="421272"/>
            <a:chOff x="0" y="0"/>
            <a:chExt cx="3684353" cy="561696"/>
          </a:xfrm>
        </p:grpSpPr>
        <p:sp>
          <p:nvSpPr>
            <p:cNvPr name="Freeform 3" id="3"/>
            <p:cNvSpPr/>
            <p:nvPr/>
          </p:nvSpPr>
          <p:spPr>
            <a:xfrm flipH="false" flipV="false" rot="5400000">
              <a:off x="-80561" y="80561"/>
              <a:ext cx="497849" cy="336727"/>
            </a:xfrm>
            <a:custGeom>
              <a:avLst/>
              <a:gdLst/>
              <a:ahLst/>
              <a:cxnLst/>
              <a:rect r="r" b="b" t="t" l="l"/>
              <a:pathLst>
                <a:path h="336727" w="497849">
                  <a:moveTo>
                    <a:pt x="0" y="0"/>
                  </a:moveTo>
                  <a:lnTo>
                    <a:pt x="497849" y="0"/>
                  </a:lnTo>
                  <a:lnTo>
                    <a:pt x="497849" y="336727"/>
                  </a:lnTo>
                  <a:lnTo>
                    <a:pt x="0" y="336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513093" y="15914"/>
              <a:ext cx="3171260" cy="5457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71"/>
                </a:lnSpc>
              </a:pPr>
              <a:r>
                <a:rPr lang="en-US" sz="2643">
                  <a:solidFill>
                    <a:srgbClr val="E8ECEC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STILL.PUNK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45391">
            <a:off x="7370448" y="41904"/>
            <a:ext cx="2253317" cy="5702480"/>
          </a:xfrm>
          <a:custGeom>
            <a:avLst/>
            <a:gdLst/>
            <a:ahLst/>
            <a:cxnLst/>
            <a:rect r="r" b="b" t="t" l="l"/>
            <a:pathLst>
              <a:path h="5702480" w="2253317">
                <a:moveTo>
                  <a:pt x="0" y="0"/>
                </a:moveTo>
                <a:lnTo>
                  <a:pt x="2253317" y="0"/>
                </a:lnTo>
                <a:lnTo>
                  <a:pt x="2253317" y="5702480"/>
                </a:lnTo>
                <a:lnTo>
                  <a:pt x="0" y="57024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029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58273" y="2032641"/>
            <a:ext cx="11770624" cy="232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340"/>
              </a:lnSpc>
            </a:pPr>
            <a:r>
              <a:rPr lang="en-US" sz="15283">
                <a:solidFill>
                  <a:srgbClr val="E8ECEC"/>
                </a:solidFill>
                <a:latin typeface="Open Sauce"/>
                <a:ea typeface="Open Sauce"/>
                <a:cs typeface="Open Sauce"/>
                <a:sym typeface="Open Sauce"/>
              </a:rPr>
              <a:t>OBRIGADO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7862" y="1535192"/>
            <a:ext cx="2116564" cy="387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43"/>
              </a:lnSpc>
            </a:pPr>
            <a:r>
              <a:rPr lang="en-US" sz="25452" spc="-509">
                <a:solidFill>
                  <a:srgbClr val="E8ECEC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(</a:t>
            </a:r>
          </a:p>
        </p:txBody>
      </p:sp>
      <p:sp>
        <p:nvSpPr>
          <p:cNvPr name="TextBox 8" id="8"/>
          <p:cNvSpPr txBox="true"/>
          <p:nvPr/>
        </p:nvSpPr>
        <p:spPr>
          <a:xfrm rot="-10800000">
            <a:off x="13803795" y="1535192"/>
            <a:ext cx="2116564" cy="387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43"/>
              </a:lnSpc>
            </a:pPr>
            <a:r>
              <a:rPr lang="en-US" sz="25452" spc="-509">
                <a:solidFill>
                  <a:srgbClr val="E8ECEC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(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16764" y="6209379"/>
            <a:ext cx="208478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0"/>
              </a:lnSpc>
            </a:pPr>
            <a:r>
              <a:rPr lang="en-US" sz="20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CRIADO POR: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62547" y="6321109"/>
            <a:ext cx="2073053" cy="20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YAGO GREGIO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80463" y="6533229"/>
            <a:ext cx="1458699" cy="20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JOARDSON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66460" y="6533229"/>
            <a:ext cx="2073053" cy="20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PEDRO TUROLLA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07542" y="6321109"/>
            <a:ext cx="1546702" cy="20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ARTHUR ALVES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95674" y="7209041"/>
            <a:ext cx="2084789" cy="20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EYCK JARDEL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80463" y="7421160"/>
            <a:ext cx="1458699" cy="20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PEDRO TAKEO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22496" y="7209041"/>
            <a:ext cx="2073053" cy="20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VIVIAN FERREIRA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66460" y="7421160"/>
            <a:ext cx="2073053" cy="20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JULIO GABRIEL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07542" y="7209041"/>
            <a:ext cx="1546702" cy="20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LUCAS HIDAUGO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DAHRc0PVUgo</dc:identifier>
  <dcterms:modified xsi:type="dcterms:W3CDTF">2011-08-01T06:04:30Z</dcterms:modified>
  <cp:revision>1</cp:revision>
  <dc:title>Apresentação Preta de Relatório de Estratégias Digitais Estilo Moderno Elegante</dc:title>
</cp:coreProperties>
</file>